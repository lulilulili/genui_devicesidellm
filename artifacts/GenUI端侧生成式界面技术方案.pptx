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74ED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7E9A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GenUI LAB  ·  DEVICE-SIDE GENERATIVE UI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6132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AB7"/>
                </a:solidFill>
              </a:rPr>
              <a:t>技术方案 / v0.3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28816"/>
            <a:ext cx="11155680" cy="0"/>
          </a:xfrm>
          <a:prstGeom prst="line">
            <a:avLst/>
          </a:prstGeom>
          <a:noFill/>
          <a:ln w="12700">
            <a:solidFill>
              <a:srgbClr val="2032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A96"/>
                </a:solidFill>
              </a:rPr>
              <a:t>模型决定表达什么 · 代码决定放在哪里 · 协议决定如何渲染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789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spc="-100" kern="0" dirty="0">
                <a:solidFill>
                  <a:srgbClr val="E9F2FC"/>
                </a:solidFill>
              </a:rPr>
              <a:t>GENUI</a:t>
            </a:r>
            <a:endParaRPr lang="en-US" sz="4700" dirty="0"/>
          </a:p>
        </p:txBody>
      </p:sp>
      <p:sp>
        <p:nvSpPr>
          <p:cNvPr id="3" name="Text 1"/>
          <p:cNvSpPr/>
          <p:nvPr/>
        </p:nvSpPr>
        <p:spPr>
          <a:xfrm>
            <a:off x="640080" y="1847088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F2FC"/>
                </a:solidFill>
              </a:rPr>
              <a:t>端侧小模型驱动的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9F2FC"/>
                </a:solidFill>
              </a:rPr>
              <a:t>确定性生成式界面技术方案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3529584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1A8BF"/>
                </a:solidFill>
              </a:rPr>
              <a:t>Morpheme 语义协议 × 模板/自由布局引擎 × DSL / A2UI / HTML 多协议渲染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4297680"/>
            <a:ext cx="1298448" cy="310896"/>
          </a:xfrm>
          <a:prstGeom prst="roundRect">
            <a:avLst>
              <a:gd name="adj" fmla="val 35294"/>
            </a:avLst>
          </a:prstGeom>
          <a:solidFill>
            <a:srgbClr val="9A70E8">
              <a:alpha val="22000"/>
            </a:srgbClr>
          </a:solidFill>
          <a:ln w="12700">
            <a:solidFill>
              <a:srgbClr val="9A70E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4370832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70E8"/>
                </a:solidFill>
              </a:rPr>
              <a:t>端侧 3B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94560" y="4297680"/>
            <a:ext cx="1298448" cy="310896"/>
          </a:xfrm>
          <a:prstGeom prst="roundRect">
            <a:avLst>
              <a:gd name="adj" fmla="val 35294"/>
            </a:avLst>
          </a:prstGeom>
          <a:solidFill>
            <a:srgbClr val="5DE0C0">
              <a:alpha val="22000"/>
            </a:srgbClr>
          </a:solidFill>
          <a:ln w="12700">
            <a:solidFill>
              <a:srgbClr val="5DE0C0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4370832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DE0C0"/>
                </a:solidFill>
              </a:rPr>
              <a:t>确定性后处理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703320" y="4297680"/>
            <a:ext cx="1298448" cy="310896"/>
          </a:xfrm>
          <a:prstGeom prst="roundRect">
            <a:avLst>
              <a:gd name="adj" fmla="val 35294"/>
            </a:avLst>
          </a:prstGeom>
          <a:solidFill>
            <a:srgbClr val="EF9D48">
              <a:alpha val="22000"/>
            </a:srgbClr>
          </a:solidFill>
          <a:ln w="12700">
            <a:solidFill>
              <a:srgbClr val="EF9D48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4370832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9D48"/>
                </a:solidFill>
              </a:rPr>
              <a:t>PDF 设计范式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12080" y="4297680"/>
            <a:ext cx="1298448" cy="310896"/>
          </a:xfrm>
          <a:prstGeom prst="roundRect">
            <a:avLst>
              <a:gd name="adj" fmla="val 35294"/>
            </a:avLst>
          </a:prstGeom>
          <a:solidFill>
            <a:srgbClr val="2674ED">
              <a:alpha val="22000"/>
            </a:srgbClr>
          </a:solidFill>
          <a:ln w="12700">
            <a:solidFill>
              <a:srgbClr val="2674ED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4370832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74ED"/>
                </a:solidFill>
              </a:rPr>
              <a:t>多协议输出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 rot="1500000">
            <a:off x="9052560" y="1143000"/>
            <a:ext cx="2103120" cy="2103120"/>
          </a:xfrm>
          <a:prstGeom prst="arc">
            <a:avLst/>
          </a:prstGeom>
          <a:solidFill>
            <a:srgbClr val="07111D">
              <a:alpha val="0"/>
            </a:srgbClr>
          </a:solidFill>
          <a:ln w="152400">
            <a:solidFill>
              <a:srgbClr val="2674ED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2300000">
            <a:off x="9464040" y="1554480"/>
            <a:ext cx="1280160" cy="1280160"/>
          </a:xfrm>
          <a:prstGeom prst="arc">
            <a:avLst/>
          </a:prstGeom>
          <a:solidFill>
            <a:srgbClr val="07111D">
              <a:alpha val="0"/>
            </a:srgbClr>
          </a:solidFill>
          <a:ln w="101600">
            <a:solidFill>
              <a:srgbClr val="5DE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897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86A1"/>
                </a:solidFill>
              </a:rPr>
              <a:t>2026.09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核心判断：让小模型只做它擅长的语义选择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把随机性限制在最小边界，布局、数据和代码全部转入可测试的确定性系统。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65960"/>
            <a:ext cx="54864" cy="2057400"/>
          </a:xfrm>
          <a:prstGeom prst="rect">
            <a:avLst/>
          </a:prstGeom>
          <a:solidFill>
            <a:srgbClr val="9A70E8"/>
          </a:solidFill>
          <a:ln w="12700">
            <a:solidFill>
              <a:srgbClr val="9A7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1305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01 · Morpheme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496312"/>
            <a:ext cx="304495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端侧模型输出精简语义语素：组件类型、角色、标签、语义键和数据类型。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不生成坐标、CSS、真实 API 或模板 ID。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196596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965960"/>
            <a:ext cx="54864" cy="2057400"/>
          </a:xfrm>
          <a:prstGeom prst="rect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1305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02 · Layout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496312"/>
            <a:ext cx="304495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按尺寸筛选 PDF 模板族，以 role、priority、组件族和占地进行全局匹配；无法适配时进入受约束自由布局。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47304" y="196596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47304" y="1965960"/>
            <a:ext cx="54864" cy="2057400"/>
          </a:xfrm>
          <a:prstGeom prst="rect">
            <a:avLst/>
          </a:prstGeom>
          <a:solidFill>
            <a:srgbClr val="2674ED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21305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03 · Render Adapter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8472" y="2496312"/>
            <a:ext cx="304495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统一 RenderSpec 同时映射为 GenUI DSL、A2UI v0.9 NDJSON、HTML + CSS，渲染体系可以独立替换。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498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D48"/>
                </a:solidFill>
              </a:rPr>
              <a:t>设计原则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F2FC"/>
                </a:solidFill>
              </a:rPr>
              <a:t>小模型负责“表达什么”  →  确定性代码负责“是否合法、放在哪里”  →  协议适配器负责“如何交付”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PROBLEM FRAMING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为什么不能让 3B 直接生成完整 UI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自由生成会同时承担语义理解、布局、代码和设计系统，错误难定位且难复用。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54864" cy="1508760"/>
          </a:xfrm>
          <a:prstGeom prst="rect">
            <a:avLst/>
          </a:prstGeom>
          <a:solidFill>
            <a:srgbClr val="E66A78"/>
          </a:solidFill>
          <a:ln w="12700">
            <a:solidFill>
              <a:srgbClr val="E66A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9339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语义漂移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359152"/>
            <a:ext cx="47823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状态被写成进度、数量被写成百分比、瞬时动作被写成开关。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828800"/>
            <a:ext cx="54864" cy="1508760"/>
          </a:xfrm>
          <a:prstGeom prst="rect">
            <a:avLst/>
          </a:prstGeom>
          <a:solidFill>
            <a:srgbClr val="EF9D48"/>
          </a:solidFill>
          <a:ln w="12700">
            <a:solidFill>
              <a:srgbClr val="EF9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99339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布局不稳定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27648" y="2359152"/>
            <a:ext cx="47823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同一提示词可能产生不同 DOM 和坐标，无法保证品牌、一致性与可访问性。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70332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703320"/>
            <a:ext cx="54864" cy="1508760"/>
          </a:xfrm>
          <a:prstGeom prst="rect">
            <a:avLst/>
          </a:prstGeom>
          <a:solidFill>
            <a:srgbClr val="9A70E8"/>
          </a:solidFill>
          <a:ln w="12700">
            <a:solidFill>
              <a:srgbClr val="9A7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86791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Token / 延迟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5528" y="4233672"/>
            <a:ext cx="47823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完整代码输出长，CPU decode 成为主要瓶颈；纠错会进一步放大成本。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370332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703320"/>
            <a:ext cx="54864" cy="1508760"/>
          </a:xfrm>
          <a:prstGeom prst="rect">
            <a:avLst/>
          </a:prstGeom>
          <a:solidFill>
            <a:srgbClr val="2674ED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386791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协议锁定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27648" y="4233672"/>
            <a:ext cx="47823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直接生成 HTML 会把意图、布局和前端技术栈耦合在一起。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6692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DE0C0"/>
                </a:solidFill>
              </a:rPr>
              <a:t>解法：缩小模型责任边界，并建立可观测、可回归的中间协议。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端到端总体架构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模型调用仅发生在 MorphemeDraft 生成；语义审校作为默认关闭的实验支路。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762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74ED"/>
                </a:solidFill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User Prompt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2368296"/>
            <a:ext cx="274320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2057400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1762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74ED"/>
                </a:solidFill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0" y="246888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Prompt / Schema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2368296"/>
            <a:ext cx="274320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2057400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9A7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21762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70E8"/>
                </a:solidFill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12080" y="246888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3B Morpheme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2368296"/>
            <a:ext cx="274320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2057400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1762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74ED"/>
                </a:solidFill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98080" y="246888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Validate / Reconcile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64040" y="2368296"/>
            <a:ext cx="274320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2057400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21762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74ED"/>
                </a:solidFill>
              </a:rPr>
              <a:t>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784080" y="246888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Info Budget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977640"/>
            <a:ext cx="2240280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EF9D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6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9D48"/>
                </a:solidFill>
              </a:rPr>
              <a:t>06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43891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Mock / API 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52928" y="4288536"/>
            <a:ext cx="274320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3977640"/>
            <a:ext cx="2240280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4096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74ED"/>
                </a:solidFill>
              </a:rPr>
              <a:t>07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29000" y="43891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Layout Engine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41848" y="4288536"/>
            <a:ext cx="274320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3977640"/>
            <a:ext cx="2240280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096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74ED"/>
                </a:solidFill>
              </a:rPr>
              <a:t>08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43891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RenderSpec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30768" y="4288536"/>
            <a:ext cx="274320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69680" y="3977640"/>
            <a:ext cx="2240280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06840" y="4096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74ED"/>
                </a:solidFill>
              </a:rPr>
              <a:t>09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006840" y="43891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DSL · A2UI · H5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561320" y="3182112"/>
            <a:ext cx="411480" cy="530352"/>
          </a:xfrm>
          <a:prstGeom prst="downArrow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1600200"/>
            <a:ext cx="2148840" cy="310896"/>
          </a:xfrm>
          <a:prstGeom prst="roundRect">
            <a:avLst>
              <a:gd name="adj" fmla="val 35294"/>
            </a:avLst>
          </a:prstGeom>
          <a:solidFill>
            <a:srgbClr val="EF9D48">
              <a:alpha val="22000"/>
            </a:srgbClr>
          </a:solidFill>
          <a:ln w="12700">
            <a:solidFill>
              <a:srgbClr val="EF9D48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05672" y="1673352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9D48"/>
                </a:solidFill>
              </a:rPr>
              <a:t>可选：第二次 LLM 审校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MODEL BOUNDARY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MorphemeDraft：模型唯一输出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短字段降低 decode 成本；Schema 控制枚举、数量和卡片尺寸。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617720" cy="3886200"/>
          </a:xfrm>
          <a:prstGeom prst="roundRect">
            <a:avLst>
              <a:gd name="adj" fmla="val 1412"/>
            </a:avLst>
          </a:prstGeom>
          <a:solidFill>
            <a:srgbClr val="050C14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41605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"s":"CARD", "z":"2x2",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"d":"AUTO", "t":"上海天气",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"m":[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{"k":"STATUS","r":"SECONDARY",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"l":"天气","q":"weather.condition","f":"ENUM"},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{"k":"METRIC","r":"PRIMARY",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"l":"气温","q":"weather.temperature","f":"NUMBER"},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{"k":"PROGRESS","r":"SECONDARY",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"l":"湿度","q":"weather.humidity","f":"PERCENTAGE"}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06440" y="1874520"/>
            <a:ext cx="5349240" cy="621792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2057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4ED"/>
                </a:solidFill>
              </a:rPr>
              <a:t>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0" y="20391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Surface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26680" y="203911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1A8BF"/>
                </a:solidFill>
              </a:rPr>
              <a:t>CARD / PAGE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06440" y="2724912"/>
            <a:ext cx="5349240" cy="621792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29077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4ED"/>
                </a:solidFill>
              </a:rPr>
              <a:t>z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8895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Size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26680" y="288950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1A8BF"/>
                </a:solidFill>
              </a:rPr>
              <a:t>AUTO / 2×1 / 2×2 / 3×2 / 3×3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06440" y="3575304"/>
            <a:ext cx="5349240" cy="621792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4ED"/>
                </a:solidFill>
              </a:rPr>
              <a:t>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3739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Density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26680" y="373989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1A8BF"/>
                </a:solidFill>
              </a:rPr>
              <a:t>AUTO / COMPACT / COMFORTABLE / DETAILED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06440" y="4425696"/>
            <a:ext cx="5349240" cy="621792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9A7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46085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0E8"/>
                </a:solidFill>
              </a:rPr>
              <a:t>m[]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45902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Morpheme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26680" y="459028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1A8BF"/>
                </a:solidFill>
              </a:rPr>
              <a:t>k · r · l · q · f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SEMANTIC SAFETY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模型之后：通用语义一致性约束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Schema 合法不等于语义正确；确定性层处理高置信、跨领域的组件—数据关系。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5074920" cy="80467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1226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8BF"/>
                </a:solidFill>
              </a:rPr>
              <a:t>数量 / 人数 / 容量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20939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4ED"/>
                </a:solidFill>
              </a:rPr>
              <a:t>→  METRIC + NUMBER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847088"/>
            <a:ext cx="5074920" cy="80467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11226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8BF"/>
                </a:solidFill>
              </a:rPr>
              <a:t>状态 / 在线 / 离线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58200" y="20939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E0C0"/>
                </a:solidFill>
              </a:rPr>
              <a:t>→  STATUS + ENUM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90088"/>
            <a:ext cx="5074920" cy="80467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5526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8BF"/>
                </a:solidFill>
              </a:rPr>
              <a:t>比例 / 进度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71800" y="32369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4ED"/>
                </a:solidFill>
              </a:rPr>
              <a:t>→  PROGRESS + PERCENTAGE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990088"/>
            <a:ext cx="5074920" cy="80467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25526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8BF"/>
                </a:solidFill>
              </a:rPr>
              <a:t>瞬时动作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58200" y="32369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E0C0"/>
                </a:solidFill>
              </a:rPr>
              <a:t>→  BUTTON + UNKNOWN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33088"/>
            <a:ext cx="5074920" cy="80467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9826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8BF"/>
                </a:solidFill>
              </a:rPr>
              <a:t>持久开关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43799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4ED"/>
                </a:solidFill>
              </a:rPr>
              <a:t>→  SWITCH + BOOLEAN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133088"/>
            <a:ext cx="5074920" cy="80467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439826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8BF"/>
                </a:solidFill>
              </a:rPr>
              <a:t>多条同类实体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58200" y="43799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E0C0"/>
                </a:solidFill>
              </a:rPr>
              <a:t>→  LIST + LIST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5486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9D48"/>
                </a:solidFill>
              </a:rPr>
              <a:t>失败处理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200" y="542239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FC"/>
                </a:solidFill>
              </a:rPr>
              <a:t>JSON 解码失败 → 最多一次定向纠错；类型冲突 → 确定性校正并记录 corrections；空间不足 → 降级或裁剪低优先级语素。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CARD BUDGET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卡片尺寸同时约束信息丰度与视觉空间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尺寸不是模型自由发挥的描述，而是 Schema 数量上限、组件成本预算和渲染比例的共同输入。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920240"/>
            <a:ext cx="2487168" cy="3063240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2×1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225296" y="2816352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2674ED">
              <a:alpha val="22000"/>
            </a:srgbClr>
          </a:solidFill>
          <a:ln w="12700">
            <a:solidFill>
              <a:srgbClr val="2674ED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2889504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74ED"/>
                </a:solidFill>
              </a:rPr>
              <a:t>预算 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3364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E0C0"/>
                </a:solidFill>
              </a:rPr>
              <a:t>420×210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3886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核心状态 + 轻量指标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38144" y="1920240"/>
            <a:ext cx="2487168" cy="3063240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2×2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041648" y="2816352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2674ED">
              <a:alpha val="22000"/>
            </a:srgbClr>
          </a:solidFill>
          <a:ln w="12700">
            <a:solidFill>
              <a:srgbClr val="2674ED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2889504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74ED"/>
                </a:solidFill>
              </a:rPr>
              <a:t>预算 8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21024" y="3364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E0C0"/>
                </a:solidFill>
              </a:rPr>
              <a:t>360×360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12464" y="3886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核心信息 + 辅助状态 + 少量操作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54496" y="1920240"/>
            <a:ext cx="2487168" cy="3063240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3×2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858000" y="2816352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2674ED">
              <a:alpha val="22000"/>
            </a:srgbClr>
          </a:solidFill>
          <a:ln w="12700">
            <a:solidFill>
              <a:srgbClr val="2674ED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2889504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74ED"/>
                </a:solidFill>
              </a:rPr>
              <a:t>预算 11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37376" y="3364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E0C0"/>
                </a:solidFill>
              </a:rPr>
              <a:t>540×360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28816" y="3886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横向服务、快捷入口、媒体和图表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70848" y="1920240"/>
            <a:ext cx="2487168" cy="3063240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53728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3×3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9674352" y="2816352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2674ED">
              <a:alpha val="22000"/>
            </a:srgbClr>
          </a:solidFill>
          <a:ln w="12700">
            <a:solidFill>
              <a:srgbClr val="2674ED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47504" y="2889504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74ED"/>
                </a:solidFill>
              </a:rPr>
              <a:t>预算 14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253728" y="3364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E0C0"/>
                </a:solidFill>
              </a:rPr>
              <a:t>480×480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45168" y="3886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完整数据、列表和多个操作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9D48"/>
                </a:solidFill>
              </a:rPr>
              <a:t>组件成本示例：TEXT / METRIC / STATUS / BUTTON = 1；PROGRESS / SLIDER = 2；LIST = 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TEMPLATE LAYOUT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模板模式：依从设计范式，而不是硬编码业务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模板描述槽位空间和倾向；相近组件族或占地可替换，最终由全局评分决定。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395728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848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74ED"/>
                </a:solidFill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尺寸过滤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1A8BF"/>
                </a:solidFill>
              </a:rPr>
              <a:t>只保留 2×1 / 2×2 / 3×2 / 3×3 同尺寸模板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27248" y="2276856"/>
            <a:ext cx="246888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6432" y="1965960"/>
            <a:ext cx="2395728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20848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74ED"/>
                </a:solidFill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93592" y="2377440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全局评分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75304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1A8BF"/>
                </a:solidFill>
              </a:rPr>
              <a:t>Exact 类型 &gt; 同组件族 &gt; 相近 footprint；叠加 role / priority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2276856"/>
            <a:ext cx="246888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1965960"/>
            <a:ext cx="2395728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20848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74ED"/>
                </a:solidFill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9944" y="2377440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槽位分配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91656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1A8BF"/>
                </a:solidFill>
              </a:rPr>
              <a:t>最大化必要语素覆盖、首要信息显著度和操作可达性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59952" y="2276856"/>
            <a:ext cx="246888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89136" y="1965960"/>
            <a:ext cx="2395728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26296" y="20848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74ED"/>
                </a:solidFill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226296" y="2377440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留白补位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08008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1A8BF"/>
                </a:solidFill>
              </a:rPr>
              <a:t>剩余完整空间可放入未匹配内容，标记 TEMPLATE_EXTENDED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234440" y="4315968"/>
            <a:ext cx="9601200" cy="1143000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470916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Template score = 覆盖率 + 类型/组件族适配 + role 显著度 + priority + 空间利用 − 溢出与碎片惩罚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FREE LAYOUT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自由模式：不是“随便放”，而是受约束的布局求解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当模板覆盖率过低或重要组件无槽位时，进入可重复、可验证的自由布局通路。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4846320" cy="585216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65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74ED"/>
                </a:solidFill>
              </a:rPr>
              <a:t>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938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语义排序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9293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1A8BF"/>
                </a:solidFill>
              </a:rPr>
              <a:t>WARNING / PRIMARY / ACTION / SECONDARY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4846320" cy="585216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7889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74ED"/>
                </a:solidFill>
              </a:rPr>
              <a:t>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空间估算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7523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1A8BF"/>
                </a:solidFill>
              </a:rPr>
              <a:t>依据组件 footprint、文本长度和最小触控面积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85800" y="3429000"/>
            <a:ext cx="4846320" cy="585216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6118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74ED"/>
                </a:solidFill>
              </a:rPr>
              <a:t>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3584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区域分组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35753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1A8BF"/>
                </a:solidFill>
              </a:rPr>
              <a:t>标题、主信息、详情、动作、媒体形成视觉组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85800" y="4251960"/>
            <a:ext cx="4846320" cy="585216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4348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74ED"/>
                </a:solidFill>
              </a:rPr>
              <a:t>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44074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网格装箱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4398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1A8BF"/>
                </a:solidFill>
              </a:rPr>
              <a:t>12 列网格，Best-Fit / Skyline 候选求解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85800" y="5074920"/>
            <a:ext cx="4846320" cy="585216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2578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74ED"/>
                </a:solidFill>
              </a:rPr>
              <a:t>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34440" y="5230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视觉校正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52212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1A8BF"/>
                </a:solidFill>
              </a:rPr>
              <a:t>对齐、平衡、留白、孤岛、狭缝与溢出评分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126480" y="1783080"/>
            <a:ext cx="4800600" cy="3886200"/>
          </a:xfrm>
          <a:prstGeom prst="roundRect">
            <a:avLst/>
          </a:prstGeom>
          <a:solidFill>
            <a:srgbClr val="091522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26530" y="1783080"/>
            <a:ext cx="0" cy="388620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26580" y="1783080"/>
            <a:ext cx="0" cy="388620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26630" y="1783080"/>
            <a:ext cx="0" cy="388620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1783080"/>
            <a:ext cx="0" cy="388620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26730" y="1783080"/>
            <a:ext cx="0" cy="388620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26780" y="1783080"/>
            <a:ext cx="0" cy="388620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26830" y="1783080"/>
            <a:ext cx="0" cy="388620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6880" y="1783080"/>
            <a:ext cx="0" cy="388620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26930" y="1783080"/>
            <a:ext cx="0" cy="388620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26980" y="1783080"/>
            <a:ext cx="0" cy="388620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27030" y="1783080"/>
            <a:ext cx="0" cy="388620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106930"/>
            <a:ext cx="4800600" cy="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430780"/>
            <a:ext cx="4800600" cy="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2754630"/>
            <a:ext cx="4800600" cy="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3078480"/>
            <a:ext cx="4800600" cy="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3402330"/>
            <a:ext cx="4800600" cy="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3726180"/>
            <a:ext cx="4800600" cy="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4050030"/>
            <a:ext cx="4800600" cy="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4373880"/>
            <a:ext cx="4800600" cy="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0" y="4697730"/>
            <a:ext cx="4800600" cy="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6480" y="5021580"/>
            <a:ext cx="4800600" cy="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5345430"/>
            <a:ext cx="4800600" cy="0"/>
          </a:xfrm>
          <a:prstGeom prst="line">
            <a:avLst/>
          </a:prstGeom>
          <a:noFill/>
          <a:ln w="6350">
            <a:solidFill>
              <a:srgbClr val="1D334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45352" y="1920240"/>
            <a:ext cx="2743200" cy="1600200"/>
          </a:xfrm>
          <a:prstGeom prst="roundRect">
            <a:avLst/>
          </a:prstGeom>
          <a:solidFill>
            <a:srgbClr val="2674ED">
              <a:alpha val="28000"/>
            </a:srgbClr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45352" y="26289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F2FC"/>
                </a:solidFill>
              </a:rPr>
              <a:t>PRIMARY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125712" y="1920240"/>
            <a:ext cx="1664208" cy="960120"/>
          </a:xfrm>
          <a:prstGeom prst="roundRect">
            <a:avLst/>
          </a:prstGeom>
          <a:solidFill>
            <a:srgbClr val="5DE0C0">
              <a:alpha val="28000"/>
            </a:srgbClr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25712" y="230886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F2FC"/>
                </a:solidFill>
              </a:rPr>
              <a:t>STATUS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25712" y="3017520"/>
            <a:ext cx="1664208" cy="1371600"/>
          </a:xfrm>
          <a:prstGeom prst="roundRect">
            <a:avLst/>
          </a:prstGeom>
          <a:solidFill>
            <a:srgbClr val="9A70E8">
              <a:alpha val="28000"/>
            </a:srgbClr>
          </a:solidFill>
          <a:ln w="12700">
            <a:solidFill>
              <a:srgbClr val="9A70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25712" y="361188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F2FC"/>
                </a:solidFill>
              </a:rPr>
              <a:t>DETAILS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45352" y="3703320"/>
            <a:ext cx="2743200" cy="914400"/>
          </a:xfrm>
          <a:prstGeom prst="roundRect">
            <a:avLst/>
          </a:prstGeom>
          <a:solidFill>
            <a:srgbClr val="EF9D48">
              <a:alpha val="28000"/>
            </a:srgbClr>
          </a:solidFill>
          <a:ln w="12700">
            <a:solidFill>
              <a:srgbClr val="EF9D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45352" y="4069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F2FC"/>
                </a:solidFill>
              </a:rPr>
              <a:t>ACTIONS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DESIGN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PDF 设计范式是模板库与回归集的共同来源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每页首行抽象为空间模板，下面实例转写为确定性 Morpheme，用于验证匹配与渲染。</a:t>
            </a:r>
            <a:endParaRPr lang="en-US" sz="1150" dirty="0"/>
          </a:p>
        </p:txBody>
      </p:sp>
      <p:pic>
        <p:nvPicPr>
          <p:cNvPr id="5" name="Image 0" descr="D:\6_GenUI_DeviceSideLLM\web\assets\pdf-2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5166360" cy="1664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74520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2674ED">
              <a:alpha val="22000"/>
            </a:srgbClr>
          </a:solidFill>
          <a:ln w="12700">
            <a:solidFill>
              <a:srgbClr val="2674ED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19476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74ED"/>
                </a:solidFill>
              </a:rPr>
              <a:t>2×1</a:t>
            </a:r>
            <a:endParaRPr lang="en-US" sz="850" dirty="0"/>
          </a:p>
        </p:txBody>
      </p:sp>
      <p:pic>
        <p:nvPicPr>
          <p:cNvPr id="8" name="Image 1" descr="D:\6_GenUI_DeviceSideLLM\web\assets\pdf-2x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783080"/>
            <a:ext cx="5166360" cy="16642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45352" y="1874520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2674ED">
              <a:alpha val="22000"/>
            </a:srgbClr>
          </a:solidFill>
          <a:ln w="12700">
            <a:solidFill>
              <a:srgbClr val="2674ED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18504" y="19476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74ED"/>
                </a:solidFill>
              </a:rPr>
              <a:t>2×2</a:t>
            </a:r>
            <a:endParaRPr lang="en-US" sz="850" dirty="0"/>
          </a:p>
        </p:txBody>
      </p:sp>
      <p:pic>
        <p:nvPicPr>
          <p:cNvPr id="11" name="Image 2" descr="D:\6_GenUI_DeviceSideLLM\web\assets\pdf-3x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86200"/>
            <a:ext cx="5166360" cy="166420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85800" y="3977640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2674ED">
              <a:alpha val="22000"/>
            </a:srgbClr>
          </a:solidFill>
          <a:ln w="12700">
            <a:solidFill>
              <a:srgbClr val="2674ED">
                <a:alpha val="80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58952" y="405079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74ED"/>
                </a:solidFill>
              </a:rPr>
              <a:t>3×2</a:t>
            </a:r>
            <a:endParaRPr lang="en-US" sz="850" dirty="0"/>
          </a:p>
        </p:txBody>
      </p:sp>
      <p:pic>
        <p:nvPicPr>
          <p:cNvPr id="14" name="Image 3" descr="D:\6_GenUI_DeviceSideLLM\web\assets\pdf-3x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3886200"/>
            <a:ext cx="5166360" cy="166420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245352" y="3977640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2674ED">
              <a:alpha val="22000"/>
            </a:srgbClr>
          </a:solidFill>
          <a:ln w="12700">
            <a:solidFill>
              <a:srgbClr val="2674ED">
                <a:alpha val="80000"/>
              </a:srgbClr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6318504" y="405079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74ED"/>
                </a:solidFill>
              </a:rPr>
              <a:t>3×3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658368" y="60167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当前：PDF 实例已集成到布局页面，可查看 Prompt、确定性 Morpheme、LayoutPlan、多协议代码和实际渲染。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RENDER CONTRACT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RenderSpec：布局与渲染协议之间的稳定契约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协议适配器只消费统一的槽位矩形、组件内容和设计 Token，前端体系替换不反向影响模型。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148840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591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74ED"/>
                </a:solidFill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MorphemeSpec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2542032"/>
            <a:ext cx="320040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2240280"/>
            <a:ext cx="2148840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3591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74ED"/>
                </a:solidFill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20440" y="26517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LayoutPlan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2542032"/>
            <a:ext cx="320040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240280"/>
            <a:ext cx="2148840" cy="932688"/>
          </a:xfrm>
          <a:prstGeom prst="roundRect">
            <a:avLst>
              <a:gd name="adj" fmla="val 5882"/>
            </a:avLst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3591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74ED"/>
                </a:solidFill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63640" y="26517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RenderSpec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600200"/>
            <a:ext cx="2148840" cy="658368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18288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GenUI DSL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2743200"/>
            <a:ext cx="2148840" cy="658368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9A7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29718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A2UI v0.9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35440" y="3886200"/>
            <a:ext cx="2148840" cy="658368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72600" y="41148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F2FC"/>
                </a:solidFill>
              </a:rPr>
              <a:t>HTML + CSS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77072" y="2532888"/>
            <a:ext cx="384048" cy="347472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892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E0C0"/>
                </a:solidFill>
              </a:rPr>
              <a:t>未来可增加 Flutter / Compose / ArkUI / 新版 A2UI，仅新增 Renderer Adapter。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PROTOCOL ADAPTERS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同源多协议输出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一次生成同时产生三种协议，运行页可直接切换、检查和复制。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401568" cy="3383280"/>
          </a:xfrm>
          <a:prstGeom prst="roundRect">
            <a:avLst>
              <a:gd name="adj" fmla="val 2162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54864" cy="3383280"/>
          </a:xfrm>
          <a:prstGeom prst="rect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9339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GenUI DSL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359152"/>
            <a:ext cx="30175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紧凑 brace-tuple JSONL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对接 _askr mini-parser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适合底层 GenUI 图结构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{"@generated-card", "catalog", {...}}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01568" cy="3383280"/>
          </a:xfrm>
          <a:prstGeom prst="roundRect">
            <a:avLst>
              <a:gd name="adj" fmla="val 2162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828800"/>
            <a:ext cx="54864" cy="3383280"/>
          </a:xfrm>
          <a:prstGeom prst="rect">
            <a:avLst/>
          </a:prstGeom>
          <a:solidFill>
            <a:srgbClr val="9A70E8"/>
          </a:solidFill>
          <a:ln w="12700">
            <a:solidFill>
              <a:srgbClr val="9A7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99339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A2UI v0.9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2359152"/>
            <a:ext cx="30175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NDJSON 消息流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createSurface + updateComponents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每条更新只包含一个组件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{"version":"v0.9", "createSurface":{...}}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3880" y="1828800"/>
            <a:ext cx="3401568" cy="3383280"/>
          </a:xfrm>
          <a:prstGeom prst="roundRect">
            <a:avLst>
              <a:gd name="adj" fmla="val 2162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828800"/>
            <a:ext cx="54864" cy="3383280"/>
          </a:xfrm>
          <a:prstGeom prst="rect">
            <a:avLst/>
          </a:prstGeom>
          <a:solidFill>
            <a:srgbClr val="2674ED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99339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HTML + CSS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85048" y="2359152"/>
            <a:ext cx="30175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可独立运行的 H5 产物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card.html + card.css + variables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适合演示、调试和未来 Web 交付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&lt;article class="genui-card"&gt;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OBSERVABILITY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工作台：把黑盒生成变成可定位的流水线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每个里程碑统一记录 input、output、elapsedMs、Token 和错误；预览与代码来自同一个 RenderSpec。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423160" cy="71323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48256"/>
            <a:ext cx="146304" cy="146304"/>
          </a:xfrm>
          <a:prstGeom prst="ellipse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208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F2FC"/>
                </a:solidFill>
              </a:rPr>
              <a:t>01 · 输入预处理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423160" cy="71323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47872" y="2048256"/>
            <a:ext cx="146304" cy="146304"/>
          </a:xfrm>
          <a:prstGeom prst="ellipse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0208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F2FC"/>
                </a:solidFill>
              </a:rPr>
              <a:t>02 · Prompt / Schema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2423160" cy="71323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9A7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1072" y="2048256"/>
            <a:ext cx="146304" cy="146304"/>
          </a:xfrm>
          <a:prstGeom prst="ellipse">
            <a:avLst/>
          </a:prstGeom>
          <a:solidFill>
            <a:srgbClr val="9A70E8"/>
          </a:solidFill>
          <a:ln w="12700">
            <a:solidFill>
              <a:srgbClr val="9A7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0208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F2FC"/>
                </a:solidFill>
              </a:rPr>
              <a:t>03 · 模型调用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83080"/>
            <a:ext cx="2423160" cy="71323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34272" y="2048256"/>
            <a:ext cx="146304" cy="146304"/>
          </a:xfrm>
          <a:prstGeom prst="ellipse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0208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F2FC"/>
                </a:solidFill>
              </a:rPr>
              <a:t>04 · JSON 校验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40080" y="2898648"/>
            <a:ext cx="2423160" cy="71323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163824"/>
            <a:ext cx="146304" cy="146304"/>
          </a:xfrm>
          <a:prstGeom prst="ellipse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13639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F2FC"/>
                </a:solidFill>
              </a:rPr>
              <a:t>05 · 字段补齐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383280" y="2898648"/>
            <a:ext cx="2423160" cy="71323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47872" y="3163824"/>
            <a:ext cx="146304" cy="146304"/>
          </a:xfrm>
          <a:prstGeom prst="ellipse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313639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F2FC"/>
                </a:solidFill>
              </a:rPr>
              <a:t>06 · 类型校正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126480" y="2898648"/>
            <a:ext cx="2423160" cy="71323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1072" y="3163824"/>
            <a:ext cx="146304" cy="146304"/>
          </a:xfrm>
          <a:prstGeom prst="ellipse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13639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F2FC"/>
                </a:solidFill>
              </a:rPr>
              <a:t>07 · 信息预算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869680" y="2898648"/>
            <a:ext cx="2423160" cy="71323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34272" y="3163824"/>
            <a:ext cx="146304" cy="146304"/>
          </a:xfrm>
          <a:prstGeom prst="ellipse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81160" y="313639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F2FC"/>
                </a:solidFill>
              </a:rPr>
              <a:t>08 · 数据注入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40080" y="4014216"/>
            <a:ext cx="2423160" cy="71323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4279392"/>
            <a:ext cx="146304" cy="146304"/>
          </a:xfrm>
          <a:prstGeom prst="ellipse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42519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F2FC"/>
                </a:solidFill>
              </a:rPr>
              <a:t>09 · 模板匹配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3383280" y="4014216"/>
            <a:ext cx="2423160" cy="71323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47872" y="4279392"/>
            <a:ext cx="146304" cy="146304"/>
          </a:xfrm>
          <a:prstGeom prst="ellipse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42519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F2FC"/>
                </a:solidFill>
              </a:rPr>
              <a:t>10 · RenderSpec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126480" y="4014216"/>
            <a:ext cx="2423160" cy="713232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1072" y="4279392"/>
            <a:ext cx="146304" cy="146304"/>
          </a:xfrm>
          <a:prstGeom prst="ellipse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2519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F2FC"/>
                </a:solidFill>
              </a:rPr>
              <a:t>11 · 协议映射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85800" y="5440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74ED"/>
                </a:solidFill>
              </a:rPr>
              <a:t>统一事件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45920" y="536752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stage, status, input, output, elapsedMs, usage: { inputTokens, outputTokens, prefillMs, decodeMs } 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3B EXPERIMENT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第二次 LLM 语义审校：保留实验开关，不默认启用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Qwen2.5 3B 在四类高风险用例上的审校没有形成稳定质量增益。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1A8BF"/>
                </a:solidFill>
              </a:rPr>
              <a:t>模式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1A8BF"/>
                </a:solidFill>
              </a:rPr>
              <a:t>平均耗时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8932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1A8BF"/>
                </a:solidFill>
              </a:rPr>
              <a:t>Input Token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1A8BF"/>
                </a:solidFill>
              </a:rPr>
              <a:t>Output Token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267712"/>
            <a:ext cx="2487168" cy="530352"/>
          </a:xfrm>
          <a:prstGeom prst="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5059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2FC"/>
                </a:solidFill>
              </a:rPr>
              <a:t>单次生成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2267712"/>
            <a:ext cx="2487168" cy="530352"/>
          </a:xfrm>
          <a:prstGeom prst="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45059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F2FC"/>
                </a:solidFill>
              </a:rPr>
              <a:t>15.9 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70448" y="2267712"/>
            <a:ext cx="2487168" cy="530352"/>
          </a:xfrm>
          <a:prstGeom prst="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245059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F2FC"/>
                </a:solidFill>
              </a:rPr>
              <a:t>387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76488" y="2267712"/>
            <a:ext cx="2487168" cy="530352"/>
          </a:xfrm>
          <a:prstGeom prst="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45059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F2FC"/>
                </a:solidFill>
              </a:rPr>
              <a:t>89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2926080"/>
            <a:ext cx="2487168" cy="530352"/>
          </a:xfrm>
          <a:prstGeom prst="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1089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2FC"/>
                </a:solidFill>
              </a:rPr>
              <a:t>开启审校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4408" y="2926080"/>
            <a:ext cx="2487168" cy="530352"/>
          </a:xfrm>
          <a:prstGeom prst="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1089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F2FC"/>
                </a:solidFill>
              </a:rPr>
              <a:t>25.3 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70448" y="2926080"/>
            <a:ext cx="2487168" cy="530352"/>
          </a:xfrm>
          <a:prstGeom prst="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1089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F2FC"/>
                </a:solidFill>
              </a:rPr>
              <a:t>610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76488" y="2926080"/>
            <a:ext cx="2487168" cy="530352"/>
          </a:xfrm>
          <a:prstGeom prst="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31089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F2FC"/>
                </a:solidFill>
              </a:rPr>
              <a:t>166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3584448"/>
            <a:ext cx="2487168" cy="530352"/>
          </a:xfrm>
          <a:prstGeom prst="rect">
            <a:avLst/>
          </a:prstGeom>
          <a:solidFill>
            <a:srgbClr val="32251B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76732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9D48"/>
                </a:solidFill>
              </a:rPr>
              <a:t>变化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64408" y="3584448"/>
            <a:ext cx="2487168" cy="530352"/>
          </a:xfrm>
          <a:prstGeom prst="rect">
            <a:avLst/>
          </a:prstGeom>
          <a:solidFill>
            <a:srgbClr val="32251B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76732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9D48"/>
                </a:solidFill>
              </a:rPr>
              <a:t>+59%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70448" y="3584448"/>
            <a:ext cx="2487168" cy="530352"/>
          </a:xfrm>
          <a:prstGeom prst="rect">
            <a:avLst/>
          </a:prstGeom>
          <a:solidFill>
            <a:srgbClr val="32251B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376732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9D48"/>
                </a:solidFill>
              </a:rPr>
              <a:t>+58%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76488" y="3584448"/>
            <a:ext cx="2487168" cy="530352"/>
          </a:xfrm>
          <a:prstGeom prst="rect">
            <a:avLst/>
          </a:prstGeom>
          <a:solidFill>
            <a:srgbClr val="32251B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376732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9D48"/>
                </a:solidFill>
              </a:rPr>
              <a:t>+87%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" y="4617720"/>
            <a:ext cx="5230368" cy="1051560"/>
          </a:xfrm>
          <a:prstGeom prst="roundRect">
            <a:avLst>
              <a:gd name="adj" fmla="val 6957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4617720"/>
            <a:ext cx="54864" cy="1051560"/>
          </a:xfrm>
          <a:prstGeom prst="rect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" y="4782312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有限收益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59536" y="5148072"/>
            <a:ext cx="4846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联系人用例中删除了可能臆造的操作。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72784" y="4617720"/>
            <a:ext cx="5230368" cy="1051560"/>
          </a:xfrm>
          <a:prstGeom prst="roundRect">
            <a:avLst>
              <a:gd name="adj" fmla="val 6957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72784" y="4617720"/>
            <a:ext cx="54864" cy="1051560"/>
          </a:xfrm>
          <a:prstGeom prst="rect">
            <a:avLst/>
          </a:prstGeom>
          <a:solidFill>
            <a:srgbClr val="E66A78"/>
          </a:solidFill>
          <a:ln w="12700">
            <a:solidFill>
              <a:srgbClr val="E66A7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4782312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明显风险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73952" y="5148072"/>
            <a:ext cx="4846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误删“预订按钮”，并把“暂停按钮”改成开关。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当前验证状态与边界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通过不等于完成：现有数据多数参与过规则开发，需要冻结独立测试集。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54864" cy="1828800"/>
          </a:xfrm>
          <a:prstGeom prst="rect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933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27 项工程测试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359152"/>
            <a:ext cx="3044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覆盖 Morpheme 结构、通用类型校正、预算、模板匹配、槽位不重叠以及 DSL / A2UI / HTML 输出。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828800"/>
            <a:ext cx="54864" cy="1828800"/>
          </a:xfrm>
          <a:prstGeom prst="rect">
            <a:avLst/>
          </a:prstGeom>
          <a:solidFill>
            <a:srgbClr val="EF9D48"/>
          </a:solidFill>
          <a:ln w="12700">
            <a:solidFill>
              <a:srgbClr val="EF9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9933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PDF 回归集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2359152"/>
            <a:ext cx="3044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68 条实例已转写为确定性 Morpheme，可逐条查看 Prompt、布局计划、代码和渲染结果。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828800"/>
            <a:ext cx="54864" cy="1828800"/>
          </a:xfrm>
          <a:prstGeom prst="rect">
            <a:avLst/>
          </a:prstGeom>
          <a:solidFill>
            <a:srgbClr val="9A70E8"/>
          </a:solidFill>
          <a:ln w="12700">
            <a:solidFill>
              <a:srgbClr val="9A7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9933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RawIntent 历史评测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9328" y="2359152"/>
            <a:ext cx="3044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63 条用例均曾通过；最终一次全量为 62/63，修复后未再次执行完整全量，需严格区分口径。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74ED"/>
                </a:solidFill>
              </a:rPr>
              <a:t>下一步评测重点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7365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F2FC"/>
                </a:solidFill>
              </a:rPr>
              <a:t>独立未调优集 · 语义字段准确率 · 模板依从度 · 自由布局美观度 · 文本溢出 · P50/P95 · 冷/热启动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SFT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SFT 主线：先建设黄金评测集，再训练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目标不是让模型学会前端代码，而是稳定输出正确、精简、不过度推断的 MorphemeDraft。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2148840" cy="685800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203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C"/>
                </a:solidFill>
              </a:rPr>
              <a:t>真实与边界场景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0" y="1508760"/>
            <a:ext cx="2148840" cy="685800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7328" y="17465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C"/>
                </a:solidFill>
              </a:rPr>
              <a:t>黄金 Morpheme 标注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37960" y="1965960"/>
            <a:ext cx="2148840" cy="685800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7688" y="2203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C"/>
                </a:solidFill>
              </a:rPr>
              <a:t>3B 推理与错误分类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3886200"/>
            <a:ext cx="2148840" cy="685800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65008" y="41239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C"/>
                </a:solidFill>
              </a:rPr>
              <a:t>Prompt / 规则基线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4663440"/>
            <a:ext cx="2148840" cy="685800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49011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C"/>
                </a:solidFill>
              </a:rPr>
              <a:t>困难样本与反例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57400" y="3886200"/>
            <a:ext cx="2148840" cy="685800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9A7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67128" y="41239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C"/>
                </a:solidFill>
              </a:rPr>
              <a:t>SFT + 冻结集回归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63240" y="2148840"/>
            <a:ext cx="320040" cy="256032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2377440"/>
            <a:ext cx="320040" cy="256032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8183880" y="2788920"/>
            <a:ext cx="320040" cy="256032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4709160"/>
            <a:ext cx="320040" cy="256032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4846320"/>
            <a:ext cx="320040" cy="256032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3749040"/>
            <a:ext cx="320040" cy="256032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8064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1A8BF"/>
                </a:solidFill>
              </a:rPr>
              <a:t>关键样本：状态/进度、数量/比例、按钮/开关、单实体/列表、明确需求/模型臆造、各尺寸信息裁剪。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建议实施路线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语义线与布局线通过稳定 MorphemeSpec 解耦，可以并行演进。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029968" cy="3520440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E0C0"/>
                </a:solidFill>
              </a:rPr>
              <a:t>P0 · 当前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" y="2743200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冻结 Morpheme v0.1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完善独立评测集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校准通用一致性规则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87752" y="3383280"/>
            <a:ext cx="164592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07208" y="1828800"/>
            <a:ext cx="2029968" cy="3520440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74ED"/>
                </a:solidFill>
              </a:rPr>
              <a:t>P1 · 模板准确性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08376" y="2743200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建立模板质量指标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逐条回归 PDF 实例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处理文本与组件压力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3383280"/>
            <a:ext cx="164592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11496" y="1828800"/>
            <a:ext cx="2029968" cy="3520440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74ED"/>
                </a:solidFill>
              </a:rPr>
              <a:t>P2 · 自由布局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12664" y="2743200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实现受约束网格求解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视觉评分与降级策略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模板无法覆盖时兜底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96328" y="3383280"/>
            <a:ext cx="164592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15784" y="1828800"/>
            <a:ext cx="2029968" cy="3520440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2088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74ED"/>
                </a:solidFill>
              </a:rPr>
              <a:t>P3 · 模型优化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16952" y="2743200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积累困难样本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SFT 3B Morpheme 输出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与更强模型对照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00616" y="3383280"/>
            <a:ext cx="164592" cy="310896"/>
          </a:xfrm>
          <a:prstGeom prst="chevron">
            <a:avLst/>
          </a:prstGeom>
          <a:solidFill>
            <a:srgbClr val="466683"/>
          </a:solidFill>
          <a:ln w="12700">
            <a:solidFill>
              <a:srgbClr val="46668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20072" y="1828800"/>
            <a:ext cx="2029968" cy="3520440"/>
          </a:xfrm>
          <a:prstGeom prst="roundRect">
            <a:avLst/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66376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74ED"/>
                </a:solidFill>
              </a:rPr>
              <a:t>P4 · 工程对接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21240" y="2743200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接入真实数据/API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接入 _askr DSL/A2UI Renderer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扩展 Page / Form / Dialog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20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674ED"/>
                </a:solidFill>
              </a:rPr>
              <a:t>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2FC"/>
                </a:solidFill>
              </a:rPr>
              <a:t>最终形态：可训练、可验证、可替换的 GenUI 工程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44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F"/>
                </a:solidFill>
              </a:rPr>
              <a:t>不是让模型生成一段“看起来像 UI”的代码，而是构建一条稳定的界面编译流水线。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9F2FC"/>
                </a:solidFill>
              </a:rPr>
              <a:t>自然语言  →  Morpheme  →  确定性校验  →  布局求解  →  RenderSpec  →  多协议渲染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788920"/>
            <a:ext cx="54864" cy="1508760"/>
          </a:xfrm>
          <a:prstGeom prst="rect">
            <a:avLst/>
          </a:prstGeom>
          <a:solidFill>
            <a:srgbClr val="9A70E8"/>
          </a:solidFill>
          <a:ln w="12700">
            <a:solidFill>
              <a:srgbClr val="9A7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953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模型可训练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3319272"/>
            <a:ext cx="2907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评测集、错误分类和 SFT 都围绕稳定 MorphemeDraft 展开。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53128" y="27889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3128" y="2788920"/>
            <a:ext cx="54864" cy="1508760"/>
          </a:xfrm>
          <a:prstGeom prst="rect">
            <a:avLst/>
          </a:prstGeom>
          <a:solidFill>
            <a:srgbClr val="5DE0C0"/>
          </a:solidFill>
          <a:ln w="12700">
            <a:solidFill>
              <a:srgbClr val="5DE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2953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布局可验证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54296" y="3319272"/>
            <a:ext cx="2907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模板依从与自由模式都以确定性评分、槽位约束和回归测试验收。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9016" y="27889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0D1A29"/>
          </a:solidFill>
          <a:ln w="12700">
            <a:solidFill>
              <a:srgbClr val="263B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29016" y="2788920"/>
            <a:ext cx="54864" cy="1508760"/>
          </a:xfrm>
          <a:prstGeom prst="rect">
            <a:avLst/>
          </a:prstGeom>
          <a:solidFill>
            <a:srgbClr val="2674ED"/>
          </a:solidFill>
          <a:ln w="12700">
            <a:solidFill>
              <a:srgbClr val="2674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2953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C"/>
                </a:solidFill>
              </a:rPr>
              <a:t>渲染可替换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0184" y="3319272"/>
            <a:ext cx="2907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8BF"/>
                </a:solidFill>
              </a:rPr>
              <a:t>DSL、A2UI、HTML 共享 RenderSpec，未来协议升级不会重构模型链路。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9D48"/>
                </a:solidFill>
              </a:rPr>
              <a:t>下一阶段重点：黄金 Morpheme 数据集 + 模板布局质量体系 + 受约束自由布局算法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GenUI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GenUI 端侧生成式界面技术方案</dc:title>
  <dc:subject>端侧小模型驱动的确定性 GenUI 技术方案</dc:subject>
  <dc:creator>GenUI LAB</dc:creator>
  <cp:lastModifiedBy>GenUI LAB</cp:lastModifiedBy>
  <cp:revision>1</cp:revision>
  <dcterms:created xsi:type="dcterms:W3CDTF">2026-09-05T11:08:09Z</dcterms:created>
  <dcterms:modified xsi:type="dcterms:W3CDTF">2026-09-05T11:08:09Z</dcterms:modified>
</cp:coreProperties>
</file>